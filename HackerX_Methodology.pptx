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jpg" ContentType="image/jpg"/>
  <Override PartName="/ppt/media/image4.jpg" ContentType="image/jpg"/>
  <Override PartName="/ppt/media/image5.jpg" ContentType="image/jpg"/>
  <Override PartName="/ppt/media/image6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0058400" cy="7772400"/>
  <p:notesSz cx="10058400" cy="77724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754380" y="2409444"/>
            <a:ext cx="8549640" cy="163220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508760" y="4352544"/>
            <a:ext cx="7040880" cy="1943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502920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5180076" y="1787652"/>
            <a:ext cx="4375404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4935119"/>
            <a:ext cx="10058400" cy="55132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3674940"/>
            <a:ext cx="10058400" cy="610399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2759341"/>
            <a:ext cx="10058400" cy="610399"/>
          </a:xfrm>
          <a:prstGeom prst="rect">
            <a:avLst/>
          </a:prstGeom>
        </p:spPr>
      </p:pic>
      <p:sp>
        <p:nvSpPr>
          <p:cNvPr id="19" name="bg object 19"/>
          <p:cNvSpPr/>
          <p:nvPr/>
        </p:nvSpPr>
        <p:spPr>
          <a:xfrm>
            <a:off x="0" y="2060335"/>
            <a:ext cx="10055225" cy="349885"/>
          </a:xfrm>
          <a:custGeom>
            <a:avLst/>
            <a:gdLst/>
            <a:ahLst/>
            <a:cxnLst/>
            <a:rect l="l" t="t" r="r" b="b"/>
            <a:pathLst>
              <a:path w="10055225" h="349885">
                <a:moveTo>
                  <a:pt x="10055009" y="349502"/>
                </a:moveTo>
                <a:lnTo>
                  <a:pt x="0" y="349502"/>
                </a:lnTo>
                <a:lnTo>
                  <a:pt x="0" y="0"/>
                </a:lnTo>
                <a:lnTo>
                  <a:pt x="10055009" y="0"/>
                </a:lnTo>
                <a:lnTo>
                  <a:pt x="10055009" y="349502"/>
                </a:lnTo>
                <a:close/>
              </a:path>
            </a:pathLst>
          </a:custGeom>
          <a:solidFill>
            <a:srgbClr val="5D1154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340463" y="1138682"/>
            <a:ext cx="1335713" cy="322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50" b="0" i="1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2920" y="1787652"/>
            <a:ext cx="9052560" cy="51297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3419856" y="7228332"/>
            <a:ext cx="3218688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502920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7242048" y="7228332"/>
            <a:ext cx="2313432" cy="3886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4608"/>
            <a:ext cx="10058400" cy="3243072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11480" y="4251960"/>
            <a:ext cx="5394960" cy="2286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778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1A1A2E"/>
                </a:solidFill>
              </a:rPr>
              <a:t>Team Name:  HackerX</a:t>
            </a:r>
            <a:endParaRPr sz="1800">
              <a:latin typeface="Calibri"/>
              <a:cs typeface="Calibri"/>
            </a:endParaRPr>
          </a:p>
          <a:p>
            <a:pPr algn="l"/>
            <a:r>
              <a:rPr sz="1400" b="0">
                <a:solidFill>
                  <a:srgbClr val="1A1A1A"/>
                </a:solidFill>
              </a:rPr>
              <a:t>Team Leader:  SURIYA PRAKASH R M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Problem Statement: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Rank the top 100 candidates from a 100,000-person pool for a Senior AI Engineer role — without letting keyword-stuffers crowd out genuine candidates who describe their work in paraphrased language. Every ranked candidate receives a fact-grounded reasoning string.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35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Solution Overview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Five-stage deterministic pipeline:  honeypot hard-gate  →  structured JD-fit scoring  →  TF-IDF/SVD semantic similarity on career-history prose  →  verified-vs-claimed trust multiplier  ×  behavioral availability modifier  →  fact-grounded reasoning</a:t>
            </a:r>
          </a:p>
          <a:p>
            <a:pPr algn="l"/>
            <a:r>
              <a:rPr sz="1300" b="1">
                <a:solidFill>
                  <a:srgbClr val="00854A"/>
                </a:solidFill>
              </a:rPr>
              <a:t>61.8 seconds · CPU-only · No GPU · No network · No LLM calls on the ranking path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What makes this different from sorting by keyword count?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Sample submission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92/100 are HR Managers, Content Writers, Sales Executives — off-target keyword-stuffers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This pipeline top 100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0/100 off-target titles — multiplicative gate means skill keywords cannot compensate for wrong function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Keyword match alone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Gold candidate (rare vocab: 'Vector Representations') ranked #4,151 of 100,000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Semantic layer added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Same candidate at rank #175 — all 8 gold-standard profiles recovered into top 175</a:t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  Reasoning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→ 0 LLM calls. Every string built only from real profile fields. Hallucination is structurally impossible.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JD Understanding &amp; Candidate Evaluation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4 Must-Have Skill Families  (MUST_HAVE_SKILL_FAMILIES in jd_requirements.py):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1  Embeddings &amp; Retrieval  —  sentence-transformers, BGE, E5, dense retrieval, semantic search, Haystack, LlamaIndex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2  Vector / Hybrid Search Infrastructure  —  pgvector, FAISS, Elasticsearch, OpenSearch, Qdrant, Milvus, BM25, hybrid search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3  Python  —  explicit JD requirement; absence is a scored gap regardless of other skills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4  Ranking Evaluation Methodology  —  NDCG, MRR, MAP, A-B testing, learning to rank, recsys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✗  LLM fine-tuning / PEFT (LoRA, QLoRA)  —  NICE_TO_HAVE only; not a disqualifier if absent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Beyond keywords — 4 additional candidate signals: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Career-history PROSE (not skills list) — TF-IDF/SVD on the text of what candidates say they did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Verified-vs-claimed — platform skill_assessment_scores vs. self-reported (34.3% diverge &gt;30 pts)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Reachability — last_active_date, open_to_work_flag, recruiter_response_rate, interview_completion_rate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Internal consistency — date arithmetic, duration totals; fabricated profiles fail before scoring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The vocabulary cliff: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'embeddings' appears 5,080× across 100K profiles. Gold candidates use rare paraphrases: 'Vector Representations' 4×  ·  'Search Backend' 5×  ·  'Text Encoders' 5×  ·  'Search &amp; Discovery' 4×  ·  'Information Retrieval Systems' 7×</a:t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  Without the semantic layer: best gold rank #4,151.  With it: rank #3.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Ranking Methodology</a:t>
            </a:r>
            <a:endParaRPr sz="17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5C337F"/>
                </a:solidFill>
              </a:rPr>
              <a:t>final_score  =  ( 0.55 × structured_score  +  0.45 × semantic_score )  ×  trust  ×  availability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Structured JD-fit  (scoring.py):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Title fit  ·  Experience band  ·  4 must-have skill families  ·  Location (Pune/Noida preferred; 9-city acceptable list)  ·  Notice period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Off-target title = multiplicative gate ×0.9 — a Sales Executive with 20 ML skills still scores near 0.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Semantic similarity  (semantic.py):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TF-IDF vectorise career_history prose  →  TruncatedSVD (100 components)  →  cosine similarity with JD profile text  →  normalise to [0,1] using empirical range [0.3, 0.95]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Why 55/45 split?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encodes the JD's explicit, non-negotiable rules.  Semantic is the safety net for vocabulary gaps — important, but secondary when explicit rules are present.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Why additive blend but multiplicative modifiers?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Structured + semantic are complementary views of the same 'fit' question → additive.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Trust + availability discount a fit score; they don't measure fit → multiplicative.  A 0-trust candidate should approach 0, not average to 50%.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00854A"/>
                </a:solidFill>
              </a:rPr>
              <a:t>All 100,000 candidates scored directly — no pre-retrieval step.  Scoring time: 17.3 seconds.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056132"/>
            <a:ext cx="10058400" cy="567080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Explainability &amp; Data Validation</a:t>
            </a:r>
            <a:endParaRPr sz="16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How ranking decisions are explained: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Deterministic template system — every reasoning string is built from REAL fields from the candidate's profile.  Zero LLM calls.  Hallucination is structurally impossible.</a:t>
            </a:r>
          </a:p>
          <a:p>
            <a:pPr algn="l"/>
            <a:r>
              <a:rPr sz="1200" b="0">
                <a:solidFill>
                  <a:srgbClr val="5C337F"/>
                </a:solidFill>
              </a:rPr>
              <a:t>  Example:  "Staff MLE (Salesforce, 8.8y). 'Staff MLE' lines up squarely with the role. Caveat: last active 80d ago."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Bug caught during validation: two independent classifiers produced contradictory output.  Fixed.  0 contradictions in final top 100.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6213E"/>
                </a:solidFill>
              </a:rPr>
              <a:t>Suspicious / fabricated profile handling: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Honeypot hard gate  (honeypot.py):  5 internal-consistency checks.  59 detected.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Keyword-stuffer suppression:  3,029 off-target-title + ≥5 ML-skill profiles.  Max score: 0.0279.  0 in top 100.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Hallucination spot-check:  15 random top-100 candidates — company, YoE, Python claim, notice period, last-active day verified against raw profile.  0 issues.</a:t>
            </a: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Worked example — fit vs. availability: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CAND_0037980  |  Senior Applied Scientist  |  9y  |  pgvector, Haystack, BM25, NLP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Pure JD-fit rank: #124 / 100,000  (fit_score = 0.8336)</a:t>
            </a:r>
          </a:p>
          <a:p>
            <a:pPr algn="l"/>
            <a:r>
              <a:rPr sz="1200" b="1">
                <a:solidFill>
                  <a:srgbClr val="B7450A"/>
                </a:solidFill>
              </a:rPr>
              <a:t>  trust 0.8163 × availability 0.6982 = 0.57×  →  Final rank: #175.  Last active 93 days ago.  Correct behavior.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900" spc="-10" i="1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3657600" cy="320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End-to-End Workflow</a:t>
            </a:r>
            <a:endParaRPr sz="1750">
              <a:latin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320040" y="2176272"/>
            <a:ext cx="914400" cy="557784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76272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candidates.jsonl  (100,000 profiles)  +  jd_requirements.py  (JD encoded once at startup)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798063"/>
            <a:ext cx="914400" cy="557784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798063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7B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honeypot.py — 5 internal-consistency checks → 59 fabricated profiles hard-gated to bottom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19856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419856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semantic.py — TF-IDF index over career-history prose (~39s) · cosine vs JD profile text per candidate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041648"/>
            <a:ext cx="914400" cy="557784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041648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3449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scoring.py — structured JD-fit: title · experience · 4 skill families · location · notice · off-target gate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663440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4663440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final.py — fit = 0.55×structured + 0.45×semantic  ×  trust  ×  availability  → sort 100K → top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285231"/>
            <a:ext cx="914400" cy="557784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5285231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1A5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reasoning.py — 1-2 sentence fact-grounded reasoning per top-100 candidate  (&lt;0.01s total)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907024"/>
            <a:ext cx="914400" cy="557784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OUTPUT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5907024"/>
            <a:ext cx="8229600" cy="557784"/>
          </a:xfrm>
          <a:prstGeom prst="roundRect">
            <a:avLst/>
          </a:prstGeom>
          <a:solidFill>
            <a:srgbClr val="F5F3FA"/>
          </a:solidFill>
          <a:ln w="9525">
            <a:solidFill>
              <a:srgbClr val="006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1A1A"/>
                </a:solidFill>
              </a:rPr>
              <a:t>submission.csv — 100 rows: candidate_id | rank | score | reasoning  ·  Total: 61.8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dirty="0" sz="1900" spc="-1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4114800" cy="3200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600" b="1">
                <a:solidFill>
                  <a:srgbClr val="5C337F"/>
                </a:solidFill>
              </a:rPr>
              <a:t>System Architecture</a:t>
            </a:r>
            <a:endParaRPr sz="1700">
              <a:latin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383280" y="2194560"/>
            <a:ext cx="3291840" cy="384048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candidates.jsonl  (100,000 profiles)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578608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706624"/>
            <a:ext cx="3291840" cy="384048"/>
          </a:xfrm>
          <a:prstGeom prst="roundRect">
            <a:avLst/>
          </a:prstGeom>
          <a:solidFill>
            <a:srgbClr val="7B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honeypot.py  ·  Hard Gate  (5 consistency checks)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70662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59 fabricated profiles
forced to bottom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90672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scoring.py
Structured JD-fit
(title · exp · skills · gate)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38928" y="3218688"/>
            <a:ext cx="2103120" cy="621792"/>
          </a:xfrm>
          <a:prstGeom prst="roundRect">
            <a:avLst/>
          </a:prstGeom>
          <a:solidFill>
            <a:srgbClr val="3449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semantic.py
TF-IDF + SVD(100)
Career-history prose vs JD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Two independent
views of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3840480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968496"/>
            <a:ext cx="3291840" cy="384048"/>
          </a:xfrm>
          <a:prstGeom prst="roundRect">
            <a:avLst/>
          </a:prstGeom>
          <a:solidFill>
            <a:srgbClr val="1A5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0.55 × structured  +  0.45 × semantic  =  fit_score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352544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480559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trust_multiplier  (verified-vs-claimed skill assessment)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48055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34.3% diverge &gt;30pts
self-report vs tested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864607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992623"/>
            <a:ext cx="3291840" cy="384048"/>
          </a:xfrm>
          <a:prstGeom prst="round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× availability_multiplier  (last_active · open_to_work · response rate)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5376671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5504687"/>
            <a:ext cx="3291840" cy="384048"/>
          </a:xfrm>
          <a:prstGeom prst="roundRect">
            <a:avLst/>
          </a:prstGeom>
          <a:solidFill>
            <a:srgbClr val="5C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FFFFFF"/>
                </a:solidFill>
              </a:rPr>
              <a:t>Sort 100K  →  Top 100  →  reasoning.py  (0 LLM calls)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888735"/>
            <a:ext cx="2743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5C337F"/>
                </a:solidFill>
              </a:rPr>
              <a:t>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6016751"/>
            <a:ext cx="3291840" cy="384048"/>
          </a:xfrm>
          <a:prstGeom prst="roundRect">
            <a:avLst/>
          </a:prstGeom>
          <a:solidFill>
            <a:srgbClr val="006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submission.csv  (100 candidates + reasoning)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053327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854A"/>
                </a:solidFill>
              </a:rPr>
              <a:t>Total: 61.8s · CPU-only · No GPU · No LLM on ranking path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43311" y="1145032"/>
            <a:ext cx="1332865" cy="3149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900" spc="-10" i="1">
                <a:solidFill>
                  <a:srgbClr val="FFFFFF"/>
                </a:solidFill>
                <a:latin typeface="Times New Roman"/>
                <a:cs typeface="Times New Roman"/>
              </a:rPr>
              <a:t>INDIA.RUNS</a:t>
            </a:r>
            <a:endParaRPr sz="19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Results &amp; Performance</a:t>
            </a:r>
            <a:endParaRPr sz="1750">
              <a:latin typeface="Calibri"/>
              <a:cs typeface="Calibri"/>
            </a:endParaRP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Ranking quality: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Gold candidates (8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7 / 8  ·  best rank #3  (Senior AI Engineer, Adobe, score 0.9275)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8th gold at rank #175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Explainable: 93-day inactivity → availability 0.70×  ·  Pure JD-fit rank was #124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Keyword-stuffers (3,029 profiles)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Max score: 0.0279  ·  0 above threshold 0.08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Honeypots in top 100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·  59 detected total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Reasoning contradictions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0  (1 confirmed pre-fix, 0 post-fix)  ·  Hallucination issues: 0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vs. sample submission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   → 92/100 of their top 100 = off-target titles.  Ours: 0.</a:t>
            </a: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Runtime  (Intel Core 5 210H · 8-core · 16 GB · CPU only):</a:t>
            </a:r>
          </a:p>
          <a:p>
            <a:pPr algn="l"/>
            <a:r>
              <a:rPr sz="1100" b="1">
                <a:solidFill>
                  <a:srgbClr val="00854A"/>
                </a:solidFill>
              </a:rPr>
              <a:t>  Load 4.3s  +  Semantic index 39.1s  +  Score 100K 17.3s  +  Reasoning 0.006s  =  61.8s  ·  Budget 300s  ·  Headroom 79%</a:t>
            </a:r>
          </a:p>
          <a:p>
            <a:pPr algn="l"/>
            <a:r>
              <a:rPr sz="3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Honest limitations: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Synthetic career prose in dataset compresses semantic distribution — structured + multipliers still differentiate.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TF-IDF/SVD is paraphrase-robust but not deep-semantic-robust.  Upgrade path to sentence-transformers documented in src/semantic.py.</a:t>
            </a:r>
          </a:p>
          <a:p>
            <a:pPr algn="l"/>
            <a:r>
              <a:rPr sz="1100" b="0">
                <a:solidFill>
                  <a:srgbClr val="1A1A1A"/>
                </a:solidFill>
              </a:rPr>
              <a:t>  Rule-based disqualifiers calibrated to this JD.  Retargeting = data change in jd_requirements.py, no code rewrite.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617207"/>
            <a:ext cx="10058400" cy="109728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0" y="1048511"/>
            <a:ext cx="10055860" cy="533400"/>
          </a:xfrm>
          <a:custGeom>
            <a:avLst/>
            <a:gdLst/>
            <a:ahLst/>
            <a:cxnLst/>
            <a:rect l="l" t="t" r="r" b="b"/>
            <a:pathLst>
              <a:path w="10055860" h="533400">
                <a:moveTo>
                  <a:pt x="10055352" y="533400"/>
                </a:moveTo>
                <a:lnTo>
                  <a:pt x="0" y="533400"/>
                </a:lnTo>
                <a:lnTo>
                  <a:pt x="0" y="0"/>
                </a:lnTo>
                <a:lnTo>
                  <a:pt x="10055352" y="0"/>
                </a:lnTo>
                <a:lnTo>
                  <a:pt x="10055352" y="533400"/>
                </a:lnTo>
                <a:close/>
              </a:path>
            </a:pathLst>
          </a:custGeom>
          <a:solidFill>
            <a:srgbClr val="464646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dirty="0" sz="1900" spc="-10"/>
              <a:t>INDIA.RUNS</a:t>
            </a:r>
            <a:endParaRPr sz="1900"/>
          </a:p>
        </p:txBody>
      </p:sp>
      <p:sp>
        <p:nvSpPr>
          <p:cNvPr id="7" name="object 7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Technologies Used</a:t>
            </a:r>
            <a:endParaRPr sz="1650">
              <a:latin typeface="Arial MT"/>
              <a:cs typeface="Arial MT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200" b="1">
                <a:solidFill>
                  <a:srgbClr val="16213E"/>
                </a:solidFill>
              </a:rPr>
              <a:t>Technology              Role                          Why selected</a:t>
            </a:r>
          </a:p>
          <a:p>
            <a:pPr algn="l"/>
            <a:r>
              <a:rPr sz="900" b="0">
                <a:solidFill>
                  <a:srgbClr val="BBBBBB"/>
                </a:solidFill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 3.11             Core language                 Standard; maximum cross-environment compatibility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scikit-learn            TF-IDF + TruncatedSVD         Fully offline; no model downloads; entire semantic layer in one library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numpy                   Vector operations             Required by scikit-learn; no additional footprint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Gradio 5                HF Spaces demo UI             Free cpu-basic tier; queue protocol for concurrent users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HuggingFace Spaces      Live sandbox demo             Free public URL; no infra setup; live at Suriya-25/redrob-ranker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python-pptx             Deck generation               Builds directly into organizer's .pptx preserving branding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git + GitHub            Version control               Commit history shows iterative, validation-driven development</a:t>
            </a:r>
          </a:p>
          <a:p>
            <a:pPr algn="l"/>
            <a:r>
              <a:rPr sz="5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6213E"/>
                </a:solidFill>
              </a:rPr>
              <a:t>Not used on the ranking path (and why):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sentence-transformers / PyTorch — model weight downloads required (not permitted under no-network constraint)</a:t>
            </a:r>
          </a:p>
          <a:p>
            <a:pPr algn="l"/>
            <a:r>
              <a:rPr sz="1200" b="0">
                <a:solidFill>
                  <a:srgbClr val="B7450A"/>
                </a:solidFill>
              </a:rPr>
              <a:t>  LLM APIs — 100K × 100ms–2s per call = 2.8–55 hours; far outside the 300s budget.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77742" y="1171447"/>
            <a:ext cx="8356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Ø</a:t>
            </a:r>
            <a:r>
              <a:rPr dirty="0" sz="1500" spc="80">
                <a:solidFill>
                  <a:srgbClr val="FFFFFF"/>
                </a:solidFill>
                <a:latin typeface="Calibri"/>
                <a:cs typeface="Calibri"/>
              </a:rPr>
              <a:t>  </a:t>
            </a:r>
            <a:r>
              <a:rPr dirty="0" sz="1500" spc="40">
                <a:solidFill>
                  <a:srgbClr val="FFFFFF"/>
                </a:solidFill>
                <a:latin typeface="Calibri"/>
                <a:cs typeface="Calibri"/>
              </a:rPr>
              <a:t>redrob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380056" y="1171447"/>
            <a:ext cx="37147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FFFFFF"/>
                </a:solidFill>
                <a:latin typeface="Calibri"/>
                <a:cs typeface="Calibri"/>
              </a:rPr>
              <a:t>i</a:t>
            </a:r>
            <a:r>
              <a:rPr dirty="0" sz="1500" spc="7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Calibri"/>
                <a:cs typeface="Calibri"/>
              </a:rPr>
              <a:t>i2S</a:t>
            </a:r>
            <a:endParaRPr sz="1500">
              <a:latin typeface="Calibri"/>
              <a:cs typeface="Calibri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35"/>
              <a:t>INDIA.RUNS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457200" y="1783080"/>
            <a:ext cx="9235440" cy="521208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7145" algn="l">
              <a:lnSpc>
                <a:spcPct val="100000"/>
              </a:lnSpc>
              <a:spcBef>
                <a:spcPts val="100"/>
              </a:spcBef>
            </a:pPr>
            <a:r>
              <a:rPr sz="1700" b="1">
                <a:solidFill>
                  <a:srgbClr val="5C337F"/>
                </a:solidFill>
              </a:rPr>
              <a:t>Submission Assets</a:t>
            </a:r>
            <a:endParaRPr sz="1750">
              <a:latin typeface="Calibri"/>
              <a:cs typeface="Calibri"/>
            </a:endParaRPr>
          </a:p>
          <a:p>
            <a:pPr algn="l"/>
            <a:r>
              <a:rPr sz="4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GitHub Repository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github.com/suriyaprakash-25/redrob-ranker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Full source code + commit history showing iterative, validation-driven development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HF Spaces Live Demo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huggingface.co/spaces/Suriya-25/redrob-ranker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Interactive sandbox — click 'Run Pipeline' to execute on a 50-candidate sample.  Both runs produce identical deterministic output.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submission.csv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100 candidates — candidate_id | rank | score | reasoning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Primary deliverable; passes validate_submission.py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submission_metadata.yaml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Team: HackerX  ·  Leader: SURIYA PRAKASH R M  ·  Runtime: 61.8s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Contact: suriyaprakashrm25@gmail.com  ·  +91 6383191041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VALIDATION_LOG.md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Audit trail — every bug found and fixed against the real 100K dataset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6 real bugs documented with root cause, fix, and before/after metrics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5C337F"/>
                </a:solidFill>
              </a:rPr>
              <a:t>  ▸  FINAL_VALIDATION_REPORT.md</a:t>
            </a:r>
          </a:p>
          <a:p>
            <a:pPr algn="l"/>
            <a:r>
              <a:rPr sz="1200" b="0">
                <a:solidFill>
                  <a:srgbClr val="1A1A1A"/>
                </a:solidFill>
              </a:rPr>
              <a:t>     Post-fix consolidated verification — all deck numbers trace here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     Gold ranks · trap scores · honeypot count · reasoning spot-check · runtime</a:t>
            </a:r>
          </a:p>
          <a:p>
            <a:pPr algn="l"/>
            <a:r>
              <a:rPr sz="200" b="0">
                <a:solidFill>
                  <a:srgbClr val="1A1A1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56431" y="2016871"/>
            <a:ext cx="922019" cy="3873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350" spc="-10">
                <a:solidFill>
                  <a:srgbClr val="FFFFFF"/>
                </a:solidFill>
                <a:latin typeface="Arial MT"/>
                <a:cs typeface="Arial MT"/>
              </a:rPr>
              <a:t>redrob</a:t>
            </a:r>
            <a:endParaRPr sz="2350">
              <a:latin typeface="Arial MT"/>
              <a:cs typeface="Arial MT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518076" y="2016871"/>
            <a:ext cx="642620" cy="387350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350" i="0">
                <a:latin typeface="Arial MT"/>
                <a:cs typeface="Arial MT"/>
              </a:rPr>
              <a:t>i</a:t>
            </a:r>
            <a:r>
              <a:rPr dirty="0" sz="2350" spc="15" i="0">
                <a:latin typeface="Arial MT"/>
                <a:cs typeface="Arial MT"/>
              </a:rPr>
              <a:t> </a:t>
            </a:r>
            <a:r>
              <a:rPr dirty="0" sz="2350" spc="-25" i="0">
                <a:latin typeface="Arial MT"/>
                <a:cs typeface="Arial MT"/>
              </a:rPr>
              <a:t>iZS</a:t>
            </a:r>
            <a:endParaRPr sz="23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Suriya Prakash.RM</dc:creator>
  <dc:title>Idea Submission Template _ Redrob - Google Slides</dc:title>
  <dcterms:created xsi:type="dcterms:W3CDTF">2026-06-29T14:51:07Z</dcterms:created>
  <dcterms:modified xsi:type="dcterms:W3CDTF">2026-06-29T14:51:07Z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2026-06-29T00:00:00Z</vt:filetime>
  </property>
  <property fmtid="{D5CDD505-2E9C-101B-9397-08002B2CF9AE}" pid="4" name="LastSaved">
    <vt:filetime>2026-06-29T00:00:00Z</vt:filetime>
  </property>
  <property fmtid="{D5CDD505-2E9C-101B-9397-08002B2CF9AE}" pid="5" name="Producer">
    <vt:lpwstr>Microsoft: Print To PDF</vt:lpwstr>
  </property>
</Properties>
</file>